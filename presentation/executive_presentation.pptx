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62D55"/>
          </a:solidFill>
          <a:ln w="12700">
            <a:solidFill>
              <a:srgbClr val="162D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09360"/>
            <a:ext cx="121615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020"/>
                </a:solidFill>
              </a:rPr>
              <a:t>CUSTOMER SERVICE ANALYTICS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Executive Briefing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CA0BC"/>
                </a:solidFill>
              </a:rPr>
              <a:t>Where We Are Losing Customers — and Money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2148840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834640"/>
            <a:ext cx="21488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16.3%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all orders 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CS contact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71800" y="2743200"/>
            <a:ext cx="2148840" cy="1828800"/>
          </a:xfrm>
          <a:prstGeom prst="rect">
            <a:avLst/>
          </a:prstGeom>
          <a:solidFill>
            <a:srgbClr val="C0611B"/>
          </a:solidFill>
          <a:ln w="12700">
            <a:solidFill>
              <a:srgbClr val="C061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1800" y="2834640"/>
            <a:ext cx="21488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52%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971800" y="3749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contacted 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call back a second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94960" y="2743200"/>
            <a:ext cx="2148840" cy="1828800"/>
          </a:xfrm>
          <a:prstGeom prst="rect">
            <a:avLst/>
          </a:prstGeom>
          <a:solidFill>
            <a:srgbClr val="15557A"/>
          </a:solidFill>
          <a:ln w="12700">
            <a:solidFill>
              <a:srgbClr val="1555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2834640"/>
            <a:ext cx="214884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2.68M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394960" y="3749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 CS contacts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over 12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</a:rPr>
              <a:t>Analysis period: May 2024 – April 2025  ·  6.3M orders analysed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C"/>
                </a:solidFill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Root Cause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0BC"/>
                </a:solidFill>
              </a:rPr>
              <a:t>One finding explains most of the contact volume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</a:rPr>
              <a:t>Booking disruption — not poor service design — is the primary driver</a:t>
            </a:r>
            <a:endParaRPr lang="en-US" sz="1600" dirty="0"/>
          </a:p>
        </p:txBody>
      </p:sp>
      <p:pic>
        <p:nvPicPr>
          <p:cNvPr id="8" name="Image 0" descr="/home/claude/charts/exec_root_ca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37360"/>
            <a:ext cx="530352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828800"/>
            <a:ext cx="5303520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8288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14.1%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229600" y="1828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Normal 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contact rate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3017520"/>
            <a:ext cx="530352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37960" y="301752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59.8%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0" y="3017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Modified 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contact rate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0" y="4206240"/>
            <a:ext cx="53035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7960" y="42062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71.3%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229600" y="42062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Cancelled 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contact rate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5212080"/>
            <a:ext cx="54864" cy="6400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" y="5212080"/>
            <a:ext cx="11375136" cy="640080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5212080"/>
            <a:ext cx="11228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Statistical significance: chi-square p &lt; 0.001 across all four tested factors (cancellation, modification, customer group, order value). Effect size is large — cancelled orders are 5× more likely to contact CS than normal orders.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C"/>
                </a:solidFill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0BC"/>
                </a:solidFill>
              </a:rPr>
              <a:t>What a 20% reduction in avoidable contacts would mean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pic>
        <p:nvPicPr>
          <p:cNvPr id="7" name="Image 0" descr="/home/claude/charts/exec_monthly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713232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</a:rPr>
              <a:t>Gap to Close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178308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A0B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0" y="1783080"/>
            <a:ext cx="109728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1856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Phone deflection to chat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01000" y="213055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31.7% of contacts via phone.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Shifting 10 pts to chat ≈ 268K fewer costly calls/yr.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320040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A0B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772400" y="3200400"/>
            <a:ext cx="109728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01000" y="3273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Reduce repeat contacts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01000" y="35478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52% of contacted orders call back.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Schedule-change contacts repeat at 70%.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72400" y="461772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8CA0B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0" y="4617720"/>
            <a:ext cx="109728" cy="12344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01000" y="4690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Proactive disruption comms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01000" y="49651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Cancelled/changed orders are 4–5× more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likely to contact — target with automated updates.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C"/>
                </a:solidFill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Recommendation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A0BC"/>
                </a:solidFill>
              </a:rPr>
              <a:t>One concrete action, one owner, one quarter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1216152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143000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Launch a Proactive Disruption Notification Programme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0BC"/>
                </a:solidFill>
              </a:rPr>
              <a:t>Automatically trigger a personalised email/SMS to any customer whose booking is cancelled or significantly changed — within 2 hours of the event — with self-service rebooking and refund options. Target: reduce disrupted-order contact rate from 65% → 45%.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017520"/>
            <a:ext cx="274320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① Owner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20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VP Customer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+ CRM/Tech lead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3017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3017520"/>
            <a:ext cx="274320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② Timeline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520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Q3 pilot (6 weeks)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Q4 full rollout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3017520"/>
            <a:ext cx="27432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③ Investment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520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CRM config + comms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template build (est. low)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0" y="301752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3017520"/>
            <a:ext cx="27432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④ Success Metric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81160" y="35204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Contact rate on disrupted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orders ≤ 45% by end-Q4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349240"/>
            <a:ext cx="54864" cy="5943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" y="5349240"/>
            <a:ext cx="11375136" cy="594360"/>
          </a:xfrm>
          <a:prstGeom prst="rect">
            <a:avLst/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349240"/>
            <a:ext cx="11228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Secondary lever: Route schedule-change contacts to a dedicated fast-track team. These contacts repeat at 70% — the single highest repeat driver in the dataset. First-contact resolution for this category could unlock the largest single reduction in total contact volume.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C"/>
                </a:solidFill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615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Risk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BC"/>
                </a:solidFill>
              </a:rPr>
              <a:t>What we are most uncertain about — and why it matters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4712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91440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1490472"/>
            <a:ext cx="777240" cy="320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0" y="149047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472184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data is absent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76479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</a:rPr>
              <a:t>We have no per-contact cost (phone vs chat vs mail). Our opportunity sizing assumes phone costs 3–5× chat — a defensible industry benchmark, but unverified here. If cost differential is smaller, the financial case shrinks. Recommend: pull call centre cost-per-minute from finance in Week 1.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2471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51760"/>
            <a:ext cx="91440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81360" y="2724912"/>
            <a:ext cx="77724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81360" y="272491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706624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Currency heterogeneity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99923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</a:rPr>
              <a:t>Order_Amount spans AUD, BRL, EUR, USD and 10+ others. No FX normalisation was applied in this analysis. High-value order insights may reflect exchange-rate effects rather than true booking value. A single-currency revenue view (e.g. EUR) would sharpen all financial conclusions.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112471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86200"/>
            <a:ext cx="91440" cy="1097280"/>
          </a:xfrm>
          <a:prstGeom prst="rect">
            <a:avLst/>
          </a:prstGeom>
          <a:solidFill>
            <a:srgbClr val="8CA0BC"/>
          </a:solidFill>
          <a:ln w="12700">
            <a:solidFill>
              <a:srgbClr val="8CA0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81360" y="3959352"/>
            <a:ext cx="777240" cy="320040"/>
          </a:xfrm>
          <a:prstGeom prst="rect">
            <a:avLst/>
          </a:prstGeom>
          <a:solidFill>
            <a:srgbClr val="8CA0BC"/>
          </a:solidFill>
          <a:ln w="12700">
            <a:solidFill>
              <a:srgbClr val="8CA0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0" y="395935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941064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predicts at booking-time — but most contacts are late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" y="423367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</a:rPr>
              <a:t>The contact prediction model achieves AUC 0.61, limited because 77% of first contacts happen more than 24 hours after booking. Disruption events (schedule changes, weather) occur post-booking and are not yet knowable. The model is best used for channel routing, not volume forecasting.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120640"/>
            <a:ext cx="91440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881360" y="5193792"/>
            <a:ext cx="77724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519379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5175504"/>
            <a:ext cx="9966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One significant data anomaly was found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5468112"/>
            <a:ext cx="10058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C"/>
                </a:solidFill>
              </a:rPr>
              <a:t>204,404 records (7.1% of raw errands) were flagged is_test_errand=1 and excluded. These represent operational testing contacts, not real customers. All contact rate figures in this analysis use the cleaned 2.68M real errand dataset only.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A0BC"/>
                </a:solidFill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Service Analytics — Executive Briefing</dc:title>
  <dc:subject>PptxGenJS Presentation</dc:subject>
  <dc:creator>PptxGenJS</dc:creator>
  <cp:lastModifiedBy>PptxGenJS</cp:lastModifiedBy>
  <cp:revision>1</cp:revision>
  <dcterms:created xsi:type="dcterms:W3CDTF">2026-05-18T12:04:23Z</dcterms:created>
  <dcterms:modified xsi:type="dcterms:W3CDTF">2026-05-18T12:04:23Z</dcterms:modified>
</cp:coreProperties>
</file>